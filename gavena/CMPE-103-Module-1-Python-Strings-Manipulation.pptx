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  <p:sldId id="304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5" r:id="rId46"/>
    <p:sldId id="300" r:id="rId47"/>
    <p:sldId id="301" r:id="rId48"/>
    <p:sldId id="302" r:id="rId49"/>
    <p:sldId id="307" r:id="rId50"/>
    <p:sldId id="306" r:id="rId5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114" d="100"/>
          <a:sy n="114" d="100"/>
        </p:scale>
        <p:origin x="150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Title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484EA-8E11-4D27-BC56-2D1828C01D53}" type="datetimeFigureOut">
              <a:rPr lang="en-US" smtClean="0"/>
              <a:t>4/3/2024</a:t>
            </a:fld>
            <a:endParaRPr lang="en-IN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09868B56-F1CF-4FEF-884B-EFD2AF1AA39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484EA-8E11-4D27-BC56-2D1828C01D53}" type="datetimeFigureOut">
              <a:rPr lang="en-US" smtClean="0"/>
              <a:t>4/3/2024</a:t>
            </a:fld>
            <a:endParaRPr lang="en-IN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en-IN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09868B56-F1CF-4FEF-884B-EFD2AF1AA39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484EA-8E11-4D27-BC56-2D1828C01D53}" type="datetimeFigureOut">
              <a:rPr lang="en-US" smtClean="0"/>
              <a:t>4/3/2024</a:t>
            </a:fld>
            <a:endParaRPr lang="en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68B56-F1CF-4FEF-884B-EFD2AF1AA394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484EA-8E11-4D27-BC56-2D1828C01D53}" type="datetimeFigureOut">
              <a:rPr lang="en-US" smtClean="0"/>
              <a:t>4/3/2024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68B56-F1CF-4FEF-884B-EFD2AF1AA39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8" name="Content Placeholder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484EA-8E11-4D27-BC56-2D1828C01D53}" type="datetimeFigureOut">
              <a:rPr lang="en-US" smtClean="0"/>
              <a:t>4/3/2024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09868B56-F1CF-4FEF-884B-EFD2AF1AA39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484EA-8E11-4D27-BC56-2D1828C01D53}" type="datetimeFigureOut">
              <a:rPr lang="en-US" smtClean="0"/>
              <a:t>4/3/2024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68B56-F1CF-4FEF-884B-EFD2AF1AA39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484EA-8E11-4D27-BC56-2D1828C01D53}" type="datetimeFigureOut">
              <a:rPr lang="en-US" smtClean="0"/>
              <a:t>4/3/2024</a:t>
            </a:fld>
            <a:endParaRPr lang="en-IN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68B56-F1CF-4FEF-884B-EFD2AF1AA39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484EA-8E11-4D27-BC56-2D1828C01D53}" type="datetimeFigureOut">
              <a:rPr lang="en-US" smtClean="0"/>
              <a:t>4/3/2024</a:t>
            </a:fld>
            <a:endParaRPr lang="en-IN"/>
          </a:p>
        </p:txBody>
      </p:sp>
      <p:sp>
        <p:nvSpPr>
          <p:cNvPr id="29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68B56-F1CF-4FEF-884B-EFD2AF1AA39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484EA-8E11-4D27-BC56-2D1828C01D53}" type="datetimeFigureOut">
              <a:rPr lang="en-US" smtClean="0"/>
              <a:t>4/3/2024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68B56-F1CF-4FEF-884B-EFD2AF1AA394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484EA-8E11-4D27-BC56-2D1828C01D53}" type="datetimeFigureOut">
              <a:rPr lang="en-US" smtClean="0"/>
              <a:t>4/3/2024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68B56-F1CF-4FEF-884B-EFD2AF1AA39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484EA-8E11-4D27-BC56-2D1828C01D53}" type="datetimeFigureOut">
              <a:rPr lang="en-US" smtClean="0"/>
              <a:t>4/3/2024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68B56-F1CF-4FEF-884B-EFD2AF1AA39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CF1484EA-8E11-4D27-BC56-2D1828C01D53}" type="datetimeFigureOut">
              <a:rPr lang="en-US" smtClean="0"/>
              <a:t>4/3/2024</a:t>
            </a:fld>
            <a:endParaRPr lang="en-IN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09868B56-F1CF-4FEF-884B-EFD2AF1AA394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583488" cy="1222375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PYTHON’S STRING MANIPULATION</a:t>
            </a:r>
            <a:endParaRPr lang="en-IN" sz="440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79512" y="3140968"/>
            <a:ext cx="8964488" cy="914400"/>
          </a:xfrm>
        </p:spPr>
        <p:txBody>
          <a:bodyPr>
            <a:noAutofit/>
          </a:bodyPr>
          <a:lstStyle/>
          <a:p>
            <a:pPr algn="ctr"/>
            <a:r>
              <a:rPr lang="en-PH" sz="4400" b="1" dirty="0">
                <a:latin typeface="Century Gothic" panose="020B0502020202020204" pitchFamily="34" charset="0"/>
              </a:rPr>
              <a:t>CMPE 103 </a:t>
            </a:r>
          </a:p>
          <a:p>
            <a:pPr algn="ctr"/>
            <a:r>
              <a:rPr lang="en-PH" sz="4400" b="1" dirty="0">
                <a:latin typeface="Century Gothic" panose="020B0502020202020204" pitchFamily="34" charset="0"/>
              </a:rPr>
              <a:t>OBJECT-ORIENTED PROGRAMMING</a:t>
            </a:r>
          </a:p>
          <a:p>
            <a:pPr algn="ctr"/>
            <a:r>
              <a:rPr lang="en-PH" sz="4400" b="1" dirty="0">
                <a:latin typeface="Century Gothic" panose="020B0502020202020204" pitchFamily="34" charset="0"/>
              </a:rPr>
              <a:t>Module 1</a:t>
            </a:r>
            <a:endParaRPr lang="en-PH" sz="3600" b="1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Like many other popular programming languages, </a:t>
            </a:r>
            <a:r>
              <a:rPr lang="en-IN" dirty="0">
                <a:solidFill>
                  <a:srgbClr val="FF0000"/>
                </a:solidFill>
              </a:rPr>
              <a:t>strings</a:t>
            </a:r>
            <a:r>
              <a:rPr lang="en-IN" dirty="0"/>
              <a:t> in Python </a:t>
            </a:r>
            <a:r>
              <a:rPr lang="en-IN" dirty="0">
                <a:solidFill>
                  <a:srgbClr val="FF0000"/>
                </a:solidFill>
              </a:rPr>
              <a:t>are arrays of bytes representing Unicode characters. </a:t>
            </a:r>
            <a:r>
              <a:rPr lang="en-IN" dirty="0"/>
              <a:t>However, </a:t>
            </a:r>
            <a:r>
              <a:rPr lang="en-IN" b="1" i="1" dirty="0">
                <a:solidFill>
                  <a:srgbClr val="FF0000"/>
                </a:solidFill>
              </a:rPr>
              <a:t>Python does not have a character data type, a single character is simply a string with a length of 1. </a:t>
            </a:r>
            <a:r>
              <a:rPr lang="en-IN" b="1" i="1" dirty="0">
                <a:solidFill>
                  <a:srgbClr val="7030A0"/>
                </a:solidFill>
              </a:rPr>
              <a:t>Square brackets can be used to access elements of the string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How to change or delete a string?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i="1" dirty="0">
                <a:solidFill>
                  <a:srgbClr val="FF0000"/>
                </a:solidFill>
              </a:rPr>
              <a:t>Strings are immutable</a:t>
            </a:r>
            <a:r>
              <a:rPr lang="en-IN" dirty="0"/>
              <a:t>. This means that elements of a string cannot be changed once it has been assigned. </a:t>
            </a:r>
            <a:r>
              <a:rPr lang="en-IN" dirty="0">
                <a:solidFill>
                  <a:srgbClr val="FF0000"/>
                </a:solidFill>
              </a:rPr>
              <a:t>We can simply reassign different strings to the same name. </a:t>
            </a:r>
          </a:p>
          <a:p>
            <a:pPr>
              <a:buNone/>
            </a:pPr>
            <a:r>
              <a:rPr lang="en-IN" dirty="0"/>
              <a:t>&gt;&gt;&gt; </a:t>
            </a:r>
            <a:r>
              <a:rPr lang="en-IN" dirty="0" err="1"/>
              <a:t>my_strin</a:t>
            </a:r>
            <a:r>
              <a:rPr lang="en-IN" dirty="0"/>
              <a:t> = ‘CPE’ </a:t>
            </a:r>
          </a:p>
          <a:p>
            <a:pPr>
              <a:buNone/>
            </a:pPr>
            <a:r>
              <a:rPr lang="en-IN" dirty="0"/>
              <a:t>&gt;&gt;&gt; </a:t>
            </a:r>
            <a:r>
              <a:rPr lang="en-IN" dirty="0" err="1"/>
              <a:t>my_strin</a:t>
            </a:r>
            <a:r>
              <a:rPr lang="en-IN" dirty="0"/>
              <a:t>[5] = 'a' </a:t>
            </a:r>
          </a:p>
          <a:p>
            <a:r>
              <a:rPr lang="en-IN" b="1" i="1" dirty="0" err="1"/>
              <a:t>TypeError</a:t>
            </a:r>
            <a:r>
              <a:rPr lang="en-IN" b="1" i="1" dirty="0"/>
              <a:t>: '</a:t>
            </a:r>
            <a:r>
              <a:rPr lang="en-IN" b="1" i="1" dirty="0" err="1"/>
              <a:t>str</a:t>
            </a:r>
            <a:r>
              <a:rPr lang="en-IN" b="1" i="1" dirty="0"/>
              <a:t>' object does not support item assignment. 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How to create a string in 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b="1" i="1" dirty="0">
                <a:solidFill>
                  <a:srgbClr val="FF0000"/>
                </a:solidFill>
              </a:rPr>
              <a:t>How to create a string in Python? </a:t>
            </a:r>
            <a:r>
              <a:rPr lang="en-IN" dirty="0"/>
              <a:t>Strings can be </a:t>
            </a:r>
            <a:r>
              <a:rPr lang="en-IN" b="1" i="1" dirty="0">
                <a:solidFill>
                  <a:srgbClr val="FF0000"/>
                </a:solidFill>
              </a:rPr>
              <a:t>created by enclosing characters inside a single quote or double quotes. </a:t>
            </a:r>
            <a:r>
              <a:rPr lang="en-IN" dirty="0"/>
              <a:t>Even triple quotes can be used in Python but generally used to represent multiline strings and </a:t>
            </a:r>
            <a:r>
              <a:rPr lang="en-IN" dirty="0" err="1"/>
              <a:t>docstrings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REPRESENTATION OF STRING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54163"/>
            <a:ext cx="8686800" cy="1660524"/>
          </a:xfrm>
        </p:spPr>
        <p:txBody>
          <a:bodyPr/>
          <a:lstStyle/>
          <a:p>
            <a:r>
              <a:rPr lang="en-IN" dirty="0"/>
              <a:t>&gt;&gt;&gt; s = “Hello Python” This is how Python would index the string: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71538" y="4071942"/>
          <a:ext cx="728667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72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72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2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72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72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72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72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72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72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72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722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0722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-12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-11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-9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-8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-7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92D050"/>
                          </a:solidFill>
                        </a:rPr>
                        <a:t>H</a:t>
                      </a:r>
                      <a:endParaRPr lang="en-IN" b="1" dirty="0">
                        <a:solidFill>
                          <a:srgbClr val="92D050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92D050"/>
                          </a:solidFill>
                        </a:rPr>
                        <a:t>e</a:t>
                      </a:r>
                      <a:endParaRPr lang="en-IN" b="1" dirty="0">
                        <a:solidFill>
                          <a:srgbClr val="92D050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92D050"/>
                          </a:solidFill>
                        </a:rPr>
                        <a:t>l</a:t>
                      </a:r>
                      <a:endParaRPr lang="en-IN" b="1" dirty="0">
                        <a:solidFill>
                          <a:srgbClr val="92D050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92D050"/>
                          </a:solidFill>
                        </a:rPr>
                        <a:t>l</a:t>
                      </a:r>
                      <a:endParaRPr lang="en-IN" b="1" dirty="0">
                        <a:solidFill>
                          <a:srgbClr val="92D050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92D050"/>
                          </a:solidFill>
                        </a:rPr>
                        <a:t>o</a:t>
                      </a:r>
                      <a:endParaRPr lang="en-IN" b="1" dirty="0">
                        <a:solidFill>
                          <a:srgbClr val="92D050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b="1" dirty="0">
                        <a:solidFill>
                          <a:srgbClr val="92D050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92D050"/>
                          </a:solidFill>
                        </a:rPr>
                        <a:t>P</a:t>
                      </a:r>
                      <a:endParaRPr lang="en-IN" b="1" dirty="0">
                        <a:solidFill>
                          <a:srgbClr val="92D050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92D050"/>
                          </a:solidFill>
                        </a:rPr>
                        <a:t>y</a:t>
                      </a:r>
                      <a:endParaRPr lang="en-IN" b="1" dirty="0">
                        <a:solidFill>
                          <a:srgbClr val="92D050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92D050"/>
                          </a:solidFill>
                        </a:rPr>
                        <a:t>t</a:t>
                      </a:r>
                      <a:endParaRPr lang="en-IN" b="1" dirty="0">
                        <a:solidFill>
                          <a:srgbClr val="92D050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92D050"/>
                          </a:solidFill>
                        </a:rPr>
                        <a:t>h</a:t>
                      </a:r>
                      <a:endParaRPr lang="en-IN" b="1" dirty="0">
                        <a:solidFill>
                          <a:srgbClr val="92D050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92D050"/>
                          </a:solidFill>
                        </a:rPr>
                        <a:t>o</a:t>
                      </a:r>
                      <a:endParaRPr lang="en-IN" b="1" dirty="0">
                        <a:solidFill>
                          <a:srgbClr val="92D050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92D050"/>
                          </a:solidFill>
                        </a:rPr>
                        <a:t>n</a:t>
                      </a:r>
                      <a:endParaRPr lang="en-IN" b="1" dirty="0">
                        <a:solidFill>
                          <a:srgbClr val="92D050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Left Arrow 4"/>
          <p:cNvSpPr/>
          <p:nvPr/>
        </p:nvSpPr>
        <p:spPr>
          <a:xfrm>
            <a:off x="4071934" y="2857496"/>
            <a:ext cx="4357718" cy="107157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Backward Indexing</a:t>
            </a:r>
          </a:p>
        </p:txBody>
      </p:sp>
      <p:sp>
        <p:nvSpPr>
          <p:cNvPr id="6" name="Left Arrow 5"/>
          <p:cNvSpPr/>
          <p:nvPr/>
        </p:nvSpPr>
        <p:spPr>
          <a:xfrm flipH="1">
            <a:off x="1071538" y="5286388"/>
            <a:ext cx="4429156" cy="107157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Forward Indexing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Programming Example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8595" y="1380843"/>
            <a:ext cx="8148841" cy="5191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Output:</a:t>
            </a:r>
            <a:endParaRPr lang="en-IN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04888" y="1857364"/>
            <a:ext cx="7410450" cy="320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access characters in string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IN" dirty="0"/>
              <a:t>We can </a:t>
            </a:r>
            <a:r>
              <a:rPr lang="en-IN" b="1" i="1" dirty="0">
                <a:solidFill>
                  <a:srgbClr val="FF0000"/>
                </a:solidFill>
              </a:rPr>
              <a:t>access individual characters using indexing and a range of characters using slicing. Index starts from 0.</a:t>
            </a:r>
            <a:r>
              <a:rPr lang="en-IN" dirty="0"/>
              <a:t> Trying to access a character out of index range will raise an </a:t>
            </a:r>
            <a:r>
              <a:rPr lang="en-IN" b="1" i="1" dirty="0" err="1">
                <a:solidFill>
                  <a:srgbClr val="FF0000"/>
                </a:solidFill>
              </a:rPr>
              <a:t>IndexError</a:t>
            </a:r>
            <a:r>
              <a:rPr lang="en-IN" b="1" i="1" dirty="0">
                <a:solidFill>
                  <a:srgbClr val="FF0000"/>
                </a:solidFill>
              </a:rPr>
              <a:t>. </a:t>
            </a:r>
            <a:r>
              <a:rPr lang="en-IN" b="1" dirty="0">
                <a:solidFill>
                  <a:srgbClr val="FF0000"/>
                </a:solidFill>
              </a:rPr>
              <a:t>The index must be an integer. We can't use float or other types, this will result into </a:t>
            </a:r>
            <a:r>
              <a:rPr lang="en-IN" b="1" dirty="0" err="1">
                <a:solidFill>
                  <a:srgbClr val="FF0000"/>
                </a:solidFill>
              </a:rPr>
              <a:t>TypeError</a:t>
            </a:r>
            <a:r>
              <a:rPr lang="en-IN" b="1" dirty="0">
                <a:solidFill>
                  <a:srgbClr val="FF0000"/>
                </a:solidFill>
              </a:rPr>
              <a:t>. </a:t>
            </a:r>
          </a:p>
          <a:p>
            <a:pPr algn="just"/>
            <a:r>
              <a:rPr lang="en-IN" b="1" i="1" dirty="0">
                <a:solidFill>
                  <a:srgbClr val="FF0000"/>
                </a:solidFill>
              </a:rPr>
              <a:t>Python allows negative indexing for its sequences. The index of -1 refers to the last item, </a:t>
            </a:r>
            <a:r>
              <a:rPr lang="en-IN" dirty="0"/>
              <a:t>-2 to the second last item and so on. We can access a range of items in a string by using the slicing operator (colon). </a:t>
            </a:r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23528" y="167961"/>
            <a:ext cx="8712968" cy="67027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3" y="500042"/>
            <a:ext cx="7286675" cy="5881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SLICING STRINGS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IN" dirty="0"/>
              <a:t>For example: </a:t>
            </a:r>
          </a:p>
          <a:p>
            <a:pPr lvl="0"/>
            <a:r>
              <a:rPr lang="en-IN" dirty="0"/>
              <a:t>&gt;&gt;&gt;“Program”[3:5] will result in: ‘</a:t>
            </a:r>
            <a:r>
              <a:rPr lang="en-IN" dirty="0" err="1"/>
              <a:t>gr</a:t>
            </a:r>
            <a:r>
              <a:rPr lang="en-IN" dirty="0"/>
              <a:t> ’ &gt;&gt;&gt;“Program”[3:6] will yield: ‘</a:t>
            </a:r>
            <a:r>
              <a:rPr lang="en-IN" dirty="0" err="1"/>
              <a:t>gra</a:t>
            </a:r>
            <a:r>
              <a:rPr lang="en-IN" dirty="0"/>
              <a:t>’ </a:t>
            </a:r>
          </a:p>
          <a:p>
            <a:pPr lvl="0"/>
            <a:r>
              <a:rPr lang="en-IN" dirty="0"/>
              <a:t>&gt;&gt;&gt;p = “Program” </a:t>
            </a:r>
          </a:p>
          <a:p>
            <a:pPr lvl="0">
              <a:buNone/>
            </a:pPr>
            <a:r>
              <a:rPr lang="en-IN" dirty="0"/>
              <a:t>	&gt;&gt;&gt;p [:4] ‘</a:t>
            </a:r>
            <a:r>
              <a:rPr lang="en-IN" dirty="0" err="1"/>
              <a:t>Prog</a:t>
            </a:r>
            <a:r>
              <a:rPr lang="en-IN" dirty="0"/>
              <a:t>’ </a:t>
            </a:r>
          </a:p>
          <a:p>
            <a:pPr lvl="0"/>
            <a:r>
              <a:rPr lang="en-IN" dirty="0"/>
              <a:t>&gt;&gt;&gt;p = “Program” </a:t>
            </a:r>
          </a:p>
          <a:p>
            <a:pPr lvl="0">
              <a:buNone/>
            </a:pPr>
            <a:r>
              <a:rPr lang="en-IN" dirty="0"/>
              <a:t>	&gt;&gt;&gt;p [4:] ‘ram’ </a:t>
            </a:r>
          </a:p>
          <a:p>
            <a:pPr lvl="0"/>
            <a:r>
              <a:rPr lang="en-IN" dirty="0"/>
              <a:t>&gt;&gt;&gt;p = “Program” </a:t>
            </a:r>
          </a:p>
          <a:p>
            <a:pPr lvl="0">
              <a:buNone/>
            </a:pPr>
            <a:r>
              <a:rPr lang="en-IN" dirty="0"/>
              <a:t>	&gt;&gt;&gt;p [3:6] ‘</a:t>
            </a:r>
            <a:r>
              <a:rPr lang="en-IN" dirty="0" err="1"/>
              <a:t>gra</a:t>
            </a:r>
            <a:r>
              <a:rPr lang="en-IN" dirty="0"/>
              <a:t>’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STRINGS –Index error</a:t>
            </a: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85720" y="1357298"/>
            <a:ext cx="8686800" cy="3943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More Functionality of String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85860"/>
            <a:ext cx="8686800" cy="5143536"/>
          </a:xfrm>
        </p:spPr>
        <p:txBody>
          <a:bodyPr>
            <a:normAutofit fontScale="77500" lnSpcReduction="20000"/>
          </a:bodyPr>
          <a:lstStyle/>
          <a:p>
            <a:r>
              <a:rPr lang="en-IN" b="1" u="sng" dirty="0"/>
              <a:t>Finding Length of string</a:t>
            </a:r>
          </a:p>
          <a:p>
            <a:r>
              <a:rPr lang="en-IN" dirty="0"/>
              <a:t>&gt;&gt;&gt; </a:t>
            </a:r>
            <a:r>
              <a:rPr lang="en-IN" dirty="0" err="1"/>
              <a:t>len</a:t>
            </a:r>
            <a:r>
              <a:rPr lang="en-IN" dirty="0"/>
              <a:t>(“Computer Engineering”)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r>
              <a:rPr lang="en-IN" b="1" u="sng" dirty="0"/>
              <a:t>String Concatenation</a:t>
            </a:r>
          </a:p>
          <a:p>
            <a:r>
              <a:rPr lang="en-IN" dirty="0"/>
              <a:t>&gt;&gt;&gt;print(“CMPE” + “103”) </a:t>
            </a:r>
          </a:p>
          <a:p>
            <a:pPr>
              <a:buNone/>
            </a:pPr>
            <a:r>
              <a:rPr lang="en-IN" dirty="0"/>
              <a:t>     </a:t>
            </a:r>
          </a:p>
          <a:p>
            <a:pPr>
              <a:buNone/>
            </a:pPr>
            <a:r>
              <a:rPr lang="en-IN" b="1" u="sng" dirty="0"/>
              <a:t>String Repeat</a:t>
            </a:r>
          </a:p>
          <a:p>
            <a:pPr>
              <a:buNone/>
            </a:pPr>
            <a:r>
              <a:rPr lang="en-IN" dirty="0"/>
              <a:t>&gt;&gt;&gt;print(“A” * 4 ) AAAA 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u="sng" dirty="0"/>
              <a:t>Substring Tests</a:t>
            </a:r>
          </a:p>
          <a:p>
            <a:pPr>
              <a:buNone/>
            </a:pPr>
            <a:r>
              <a:rPr lang="en-IN"/>
              <a:t>&gt;&gt;&gt;”p” </a:t>
            </a:r>
            <a:r>
              <a:rPr lang="en-IN" dirty="0"/>
              <a:t>in “Computer” True </a:t>
            </a:r>
          </a:p>
          <a:p>
            <a:pPr>
              <a:buNone/>
            </a:pPr>
            <a:r>
              <a:rPr lang="en-IN" dirty="0"/>
              <a:t>&gt;&gt;&gt;”pr” in “computer” False </a:t>
            </a:r>
          </a:p>
          <a:p>
            <a:pPr>
              <a:buNone/>
            </a:pPr>
            <a:r>
              <a:rPr lang="en-IN" dirty="0"/>
              <a:t>&gt;&gt;&gt;”pr” not in “computer” True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More Functionality of String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&gt;&gt;&gt; name1="computer" </a:t>
            </a:r>
          </a:p>
          <a:p>
            <a:r>
              <a:rPr lang="en-IN" dirty="0"/>
              <a:t>&gt;&gt;&gt; name2=name1[3:5] </a:t>
            </a:r>
          </a:p>
          <a:p>
            <a:r>
              <a:rPr lang="en-IN" dirty="0"/>
              <a:t>&gt;&gt;&gt;name2 </a:t>
            </a:r>
          </a:p>
          <a:p>
            <a:pPr>
              <a:buNone/>
            </a:pPr>
            <a:r>
              <a:rPr lang="en-IN" dirty="0"/>
              <a:t>		</a:t>
            </a:r>
            <a:r>
              <a:rPr lang="en-IN" dirty="0" err="1"/>
              <a:t>pu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Up Arrow Callout 7"/>
          <p:cNvSpPr/>
          <p:nvPr/>
        </p:nvSpPr>
        <p:spPr>
          <a:xfrm rot="19544236">
            <a:off x="2787295" y="4014716"/>
            <a:ext cx="3208807" cy="2357454"/>
          </a:xfrm>
          <a:prstGeom prst="upArrowCallout">
            <a:avLst>
              <a:gd name="adj1" fmla="val 25000"/>
              <a:gd name="adj2" fmla="val 21114"/>
              <a:gd name="adj3" fmla="val 23082"/>
              <a:gd name="adj4" fmla="val 2793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Method Argument</a:t>
            </a:r>
            <a:endParaRPr lang="en-IN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285860"/>
            <a:ext cx="8686800" cy="4525963"/>
          </a:xfrm>
        </p:spPr>
        <p:txBody>
          <a:bodyPr/>
          <a:lstStyle/>
          <a:p>
            <a:r>
              <a:rPr lang="en-IN" dirty="0"/>
              <a:t>String Methods In Python, a method is a function that is defined with respect to a particular object.</a:t>
            </a:r>
          </a:p>
          <a:p>
            <a:r>
              <a:rPr lang="en-IN" dirty="0"/>
              <a:t> Syntax: </a:t>
            </a:r>
            <a:r>
              <a:rPr lang="en-IN" dirty="0" err="1"/>
              <a:t>object.method</a:t>
            </a:r>
            <a:r>
              <a:rPr lang="en-IN" dirty="0"/>
              <a:t>(arguments) </a:t>
            </a:r>
          </a:p>
          <a:p>
            <a:r>
              <a:rPr lang="en-IN" dirty="0"/>
              <a:t>For Example: &gt;&gt;&gt;name=“Classic” &gt;&gt;&gt;</a:t>
            </a:r>
            <a:r>
              <a:rPr lang="en-IN" dirty="0" err="1"/>
              <a:t>name.find</a:t>
            </a:r>
            <a:r>
              <a:rPr lang="en-IN" dirty="0"/>
              <a:t>(“s”)  = 3</a:t>
            </a:r>
          </a:p>
          <a:p>
            <a:endParaRPr lang="en-IN" dirty="0"/>
          </a:p>
        </p:txBody>
      </p:sp>
      <p:sp>
        <p:nvSpPr>
          <p:cNvPr id="4" name="Left Arrow Callout 3"/>
          <p:cNvSpPr/>
          <p:nvPr/>
        </p:nvSpPr>
        <p:spPr>
          <a:xfrm>
            <a:off x="4786314" y="3857628"/>
            <a:ext cx="3714808" cy="1071570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023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the first position where “s” appears </a:t>
            </a:r>
          </a:p>
        </p:txBody>
      </p:sp>
      <p:sp>
        <p:nvSpPr>
          <p:cNvPr id="5" name="Up Arrow Callout 4"/>
          <p:cNvSpPr/>
          <p:nvPr/>
        </p:nvSpPr>
        <p:spPr>
          <a:xfrm rot="1170271">
            <a:off x="322188" y="4291729"/>
            <a:ext cx="2071670" cy="2286016"/>
          </a:xfrm>
          <a:prstGeom prst="upArrowCallout">
            <a:avLst>
              <a:gd name="adj1" fmla="val 25000"/>
              <a:gd name="adj2" fmla="val 21114"/>
              <a:gd name="adj3" fmla="val 23082"/>
              <a:gd name="adj4" fmla="val 2334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String object</a:t>
            </a:r>
            <a:endParaRPr lang="en-IN" sz="2800" dirty="0"/>
          </a:p>
        </p:txBody>
      </p:sp>
      <p:sp>
        <p:nvSpPr>
          <p:cNvPr id="7" name="Up Arrow Callout 6"/>
          <p:cNvSpPr/>
          <p:nvPr/>
        </p:nvSpPr>
        <p:spPr>
          <a:xfrm>
            <a:off x="1571604" y="4429132"/>
            <a:ext cx="2500330" cy="1357322"/>
          </a:xfrm>
          <a:prstGeom prst="upArrowCallout">
            <a:avLst>
              <a:gd name="adj1" fmla="val 25000"/>
              <a:gd name="adj2" fmla="val 25000"/>
              <a:gd name="adj3" fmla="val 23082"/>
              <a:gd name="adj4" fmla="val 3874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String Method</a:t>
            </a:r>
            <a:endParaRPr lang="en-IN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1.  capitalize()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285860"/>
            <a:ext cx="8686800" cy="4286280"/>
          </a:xfrm>
        </p:spPr>
        <p:txBody>
          <a:bodyPr>
            <a:normAutofit/>
          </a:bodyPr>
          <a:lstStyle/>
          <a:p>
            <a:r>
              <a:rPr lang="en-IN" dirty="0"/>
              <a:t>Capitalizes first letter of string</a:t>
            </a:r>
          </a:p>
          <a:p>
            <a:r>
              <a:rPr lang="en-US" dirty="0"/>
              <a:t>&gt;&gt;&gt;name=“computer”</a:t>
            </a:r>
          </a:p>
          <a:p>
            <a:r>
              <a:rPr lang="en-US" dirty="0"/>
              <a:t>&gt;&gt;&gt;</a:t>
            </a:r>
            <a:r>
              <a:rPr lang="en-US" dirty="0" err="1"/>
              <a:t>name.capitalize</a:t>
            </a:r>
            <a:r>
              <a:rPr lang="en-US" dirty="0"/>
              <a:t>()</a:t>
            </a:r>
          </a:p>
          <a:p>
            <a:pPr>
              <a:buNone/>
            </a:pPr>
            <a:r>
              <a:rPr lang="en-US" dirty="0"/>
              <a:t>	‘Computer’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2. </a:t>
            </a:r>
            <a:r>
              <a:rPr lang="en-IN" dirty="0" err="1"/>
              <a:t>lstrip</a:t>
            </a:r>
            <a:r>
              <a:rPr lang="en-IN" dirty="0"/>
              <a:t>() &amp; 3. </a:t>
            </a:r>
            <a:r>
              <a:rPr lang="en-IN" dirty="0" err="1"/>
              <a:t>rstrip</a:t>
            </a:r>
            <a:r>
              <a:rPr lang="en-IN" dirty="0"/>
              <a:t>()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err="1"/>
              <a:t>lstrip</a:t>
            </a:r>
            <a:r>
              <a:rPr lang="en-IN" dirty="0"/>
              <a:t>() method is used to remove left padded spaces in a given string </a:t>
            </a:r>
          </a:p>
          <a:p>
            <a:pPr>
              <a:buNone/>
            </a:pPr>
            <a:r>
              <a:rPr lang="en-IN" dirty="0"/>
              <a:t>	&gt;&gt;&gt;name1=“ a “ </a:t>
            </a:r>
          </a:p>
          <a:p>
            <a:pPr>
              <a:buNone/>
            </a:pPr>
            <a:r>
              <a:rPr lang="en-IN" dirty="0"/>
              <a:t>	&gt;&gt;&gt;name1.lstrip()</a:t>
            </a:r>
          </a:p>
          <a:p>
            <a:pPr>
              <a:buNone/>
            </a:pPr>
            <a:r>
              <a:rPr lang="en-IN" dirty="0"/>
              <a:t>	 ‘a ‘ </a:t>
            </a:r>
          </a:p>
          <a:p>
            <a:r>
              <a:rPr lang="en-IN" dirty="0" err="1"/>
              <a:t>rstrip</a:t>
            </a:r>
            <a:r>
              <a:rPr lang="en-IN" dirty="0"/>
              <a:t>() method is used to remove right padded spaces in a given string </a:t>
            </a:r>
          </a:p>
          <a:p>
            <a:pPr>
              <a:buNone/>
            </a:pPr>
            <a:r>
              <a:rPr lang="en-IN" dirty="0"/>
              <a:t>	&gt;&gt;&gt;name1.rstrip() </a:t>
            </a:r>
          </a:p>
          <a:p>
            <a:pPr>
              <a:buNone/>
            </a:pPr>
            <a:r>
              <a:rPr lang="en-IN" dirty="0"/>
              <a:t>	‘ a’ </a:t>
            </a:r>
          </a:p>
          <a:p>
            <a:pPr>
              <a:buNone/>
            </a:pPr>
            <a:r>
              <a:rPr lang="en-IN" dirty="0"/>
              <a:t>	Removing left spaces Removing right spaces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4. strip()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strip() method is used to remove left and right padded spaces in a given string </a:t>
            </a:r>
          </a:p>
          <a:p>
            <a:pPr>
              <a:buNone/>
            </a:pPr>
            <a:r>
              <a:rPr lang="en-IN" dirty="0"/>
              <a:t>	&gt;&gt;&gt;name1=“ a “ </a:t>
            </a:r>
          </a:p>
          <a:p>
            <a:pPr>
              <a:buNone/>
            </a:pPr>
            <a:r>
              <a:rPr lang="en-IN" dirty="0"/>
              <a:t>	&gt;&gt;&gt;name1.strip() </a:t>
            </a:r>
          </a:p>
          <a:p>
            <a:pPr>
              <a:buNone/>
            </a:pPr>
            <a:r>
              <a:rPr lang="en-IN" dirty="0"/>
              <a:t>		‘a‘ </a:t>
            </a:r>
          </a:p>
          <a:p>
            <a:pPr>
              <a:buNone/>
            </a:pPr>
            <a:r>
              <a:rPr lang="en-IN" dirty="0"/>
              <a:t>	Removing left and right spaces for a given string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lower()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lower() method is used to convert given string in to lower case. </a:t>
            </a:r>
          </a:p>
          <a:p>
            <a:pPr>
              <a:buNone/>
            </a:pPr>
            <a:r>
              <a:rPr lang="en-IN" dirty="0"/>
              <a:t>	&gt;&gt;&gt;name1=“ COMPUTER“ </a:t>
            </a:r>
          </a:p>
          <a:p>
            <a:pPr>
              <a:buNone/>
            </a:pPr>
            <a:r>
              <a:rPr lang="en-IN" dirty="0"/>
              <a:t>	&gt;&gt;&gt;name1.lower() </a:t>
            </a:r>
          </a:p>
          <a:p>
            <a:pPr>
              <a:buNone/>
            </a:pPr>
            <a:r>
              <a:rPr lang="en-IN" dirty="0"/>
              <a:t>		computer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6. UPPER()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upper() method is used to convert given string in to upper case. </a:t>
            </a:r>
          </a:p>
          <a:p>
            <a:pPr>
              <a:buNone/>
            </a:pPr>
            <a:r>
              <a:rPr lang="en-IN" dirty="0"/>
              <a:t>	&gt;&gt;&gt;name1=“ computer“ </a:t>
            </a:r>
          </a:p>
          <a:p>
            <a:pPr>
              <a:buNone/>
            </a:pPr>
            <a:r>
              <a:rPr lang="en-IN" dirty="0"/>
              <a:t>	&gt;&gt;&gt;name1.upper() </a:t>
            </a:r>
          </a:p>
          <a:p>
            <a:pPr>
              <a:buNone/>
            </a:pPr>
            <a:r>
              <a:rPr lang="en-IN" dirty="0"/>
              <a:t>		COMPUTER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7. TITLE()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title() method is used to convert given string in to title case. Every first character of word of a given string is converted to title case. &gt;&gt;&gt;name1=“ </a:t>
            </a:r>
            <a:r>
              <a:rPr lang="en-IN" dirty="0" err="1"/>
              <a:t>cpe</a:t>
            </a:r>
            <a:r>
              <a:rPr lang="en-IN" dirty="0"/>
              <a:t> python syllabus“ &gt;&gt;&gt;name1.title() </a:t>
            </a:r>
          </a:p>
          <a:p>
            <a:pPr>
              <a:buNone/>
            </a:pPr>
            <a:r>
              <a:rPr lang="en-IN" dirty="0"/>
              <a:t>		</a:t>
            </a:r>
            <a:r>
              <a:rPr lang="en-IN" dirty="0" err="1"/>
              <a:t>Cpe</a:t>
            </a:r>
            <a:r>
              <a:rPr lang="en-IN" dirty="0"/>
              <a:t>  Python Syllabus </a:t>
            </a:r>
            <a:br>
              <a:rPr lang="en-IN" dirty="0"/>
            </a:br>
            <a:endParaRPr lang="en-I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8. </a:t>
            </a:r>
            <a:r>
              <a:rPr lang="en-IN" dirty="0" err="1"/>
              <a:t>swapcase</a:t>
            </a:r>
            <a:r>
              <a:rPr lang="en-IN" dirty="0"/>
              <a:t>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 err="1"/>
              <a:t>swapcase</a:t>
            </a:r>
            <a:r>
              <a:rPr lang="en-IN" dirty="0"/>
              <a:t>() method is toggle the case. </a:t>
            </a:r>
            <a:r>
              <a:rPr lang="en-IN" dirty="0" err="1"/>
              <a:t>Meaining</a:t>
            </a:r>
            <a:r>
              <a:rPr lang="en-IN" dirty="0"/>
              <a:t> upper to lower and lower to upper case. &gt;&gt;&gt;name1=“ Computer “ &gt;&gt;&gt;name1.swapcase() </a:t>
            </a:r>
          </a:p>
          <a:p>
            <a:pPr lvl="0">
              <a:buNone/>
            </a:pPr>
            <a:r>
              <a:rPr lang="en-IN" dirty="0"/>
              <a:t>		</a:t>
            </a:r>
            <a:r>
              <a:rPr lang="en-IN" dirty="0" err="1"/>
              <a:t>cOMPUTER</a:t>
            </a:r>
            <a:endParaRPr lang="en-IN" dirty="0"/>
          </a:p>
          <a:p>
            <a:pPr lvl="0"/>
            <a:r>
              <a:rPr lang="en-IN" dirty="0"/>
              <a:t> Every character case is changed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9. </a:t>
            </a:r>
            <a:r>
              <a:rPr lang="en-IN" dirty="0" err="1"/>
              <a:t>ljust</a:t>
            </a:r>
            <a:r>
              <a:rPr lang="en-IN" dirty="0"/>
              <a:t>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ljust</a:t>
            </a:r>
            <a:r>
              <a:rPr lang="en-IN" dirty="0"/>
              <a:t>() method is used to add spaces to the left side of the given string </a:t>
            </a:r>
          </a:p>
          <a:p>
            <a:pPr>
              <a:buNone/>
            </a:pPr>
            <a:r>
              <a:rPr lang="en-IN" dirty="0"/>
              <a:t>	&gt;&gt;&gt;name1=“</a:t>
            </a:r>
            <a:r>
              <a:rPr lang="en-IN" dirty="0" err="1"/>
              <a:t>anand</a:t>
            </a:r>
            <a:r>
              <a:rPr lang="en-IN" dirty="0"/>
              <a:t> “ </a:t>
            </a:r>
          </a:p>
          <a:p>
            <a:pPr>
              <a:buNone/>
            </a:pPr>
            <a:r>
              <a:rPr lang="en-IN" dirty="0"/>
              <a:t>	&gt;&gt;&gt;name1.ljust(15) </a:t>
            </a:r>
          </a:p>
          <a:p>
            <a:pPr>
              <a:buNone/>
            </a:pPr>
            <a:r>
              <a:rPr lang="en-IN" dirty="0"/>
              <a:t>		‘</a:t>
            </a:r>
            <a:r>
              <a:rPr lang="en-IN" dirty="0" err="1"/>
              <a:t>anand</a:t>
            </a:r>
            <a:r>
              <a:rPr lang="en-IN" dirty="0"/>
              <a:t>          ’</a:t>
            </a:r>
          </a:p>
          <a:p>
            <a:pPr>
              <a:buNone/>
            </a:pPr>
            <a:r>
              <a:rPr lang="en-IN" dirty="0"/>
              <a:t>	Left side padded with spaces </a:t>
            </a:r>
          </a:p>
          <a:p>
            <a:pPr>
              <a:buNone/>
            </a:pPr>
            <a:r>
              <a:rPr lang="en-IN" dirty="0"/>
              <a:t>	Note: string length is 5 and 10 spaces added to the left side of string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10. </a:t>
            </a:r>
            <a:r>
              <a:rPr lang="en-IN" dirty="0" err="1"/>
              <a:t>rjust</a:t>
            </a:r>
            <a:r>
              <a:rPr lang="en-IN" dirty="0"/>
              <a:t>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rjust</a:t>
            </a:r>
            <a:r>
              <a:rPr lang="en-IN" dirty="0"/>
              <a:t>() method is used to add spaces to the left side of the given string </a:t>
            </a:r>
          </a:p>
          <a:p>
            <a:pPr>
              <a:buNone/>
            </a:pPr>
            <a:r>
              <a:rPr lang="en-IN" dirty="0"/>
              <a:t>	&gt;&gt;&gt;name1=“</a:t>
            </a:r>
            <a:r>
              <a:rPr lang="en-IN" dirty="0" err="1"/>
              <a:t>anand</a:t>
            </a:r>
            <a:r>
              <a:rPr lang="en-IN" dirty="0"/>
              <a:t> “ </a:t>
            </a:r>
          </a:p>
          <a:p>
            <a:pPr>
              <a:buNone/>
            </a:pPr>
            <a:r>
              <a:rPr lang="en-IN" dirty="0"/>
              <a:t>	&gt;&gt;&gt;name1.rjust(15) </a:t>
            </a:r>
          </a:p>
          <a:p>
            <a:pPr>
              <a:buNone/>
            </a:pPr>
            <a:r>
              <a:rPr lang="en-IN" dirty="0"/>
              <a:t>		‘          </a:t>
            </a:r>
            <a:r>
              <a:rPr lang="en-IN" dirty="0" err="1"/>
              <a:t>anand</a:t>
            </a:r>
            <a:r>
              <a:rPr lang="en-IN" dirty="0"/>
              <a:t>’</a:t>
            </a:r>
          </a:p>
          <a:p>
            <a:pPr>
              <a:buNone/>
            </a:pPr>
            <a:r>
              <a:rPr lang="en-IN" dirty="0"/>
              <a:t>	Left side padded with spaces </a:t>
            </a:r>
          </a:p>
          <a:p>
            <a:pPr>
              <a:buNone/>
            </a:pPr>
            <a:r>
              <a:rPr lang="en-IN" dirty="0"/>
              <a:t>	Note: string length is 5 and 10 spaces added to the left side of string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11. </a:t>
            </a:r>
            <a:r>
              <a:rPr lang="en-IN" dirty="0" err="1"/>
              <a:t>center</a:t>
            </a:r>
            <a:r>
              <a:rPr lang="en-IN" dirty="0"/>
              <a:t>(width, </a:t>
            </a:r>
            <a:r>
              <a:rPr lang="en-IN" dirty="0" err="1"/>
              <a:t>fillchar</a:t>
            </a:r>
            <a:r>
              <a:rPr lang="en-IN" dirty="0"/>
              <a:t>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IN" dirty="0"/>
              <a:t>The method </a:t>
            </a:r>
            <a:r>
              <a:rPr lang="en-IN" dirty="0" err="1"/>
              <a:t>center</a:t>
            </a:r>
            <a:r>
              <a:rPr lang="en-IN" dirty="0"/>
              <a:t>() returns </a:t>
            </a:r>
            <a:r>
              <a:rPr lang="en-IN" dirty="0" err="1"/>
              <a:t>centered</a:t>
            </a:r>
            <a:r>
              <a:rPr lang="en-IN" dirty="0"/>
              <a:t> in a string of length width. Padding is done using the specified </a:t>
            </a:r>
            <a:r>
              <a:rPr lang="en-IN" dirty="0" err="1"/>
              <a:t>fillchar</a:t>
            </a:r>
            <a:r>
              <a:rPr lang="en-IN" dirty="0"/>
              <a:t>. Default filler is a space. </a:t>
            </a:r>
            <a:r>
              <a:rPr lang="en-IN" dirty="0" err="1"/>
              <a:t>Centered</a:t>
            </a:r>
            <a:r>
              <a:rPr lang="en-IN" dirty="0"/>
              <a:t> string</a:t>
            </a:r>
          </a:p>
          <a:p>
            <a:pPr lvl="0"/>
            <a:r>
              <a:rPr lang="en-US" dirty="0"/>
              <a:t>&gt;&gt;&gt;name=“</a:t>
            </a:r>
            <a:r>
              <a:rPr lang="en-US" dirty="0" err="1"/>
              <a:t>Anand</a:t>
            </a:r>
            <a:r>
              <a:rPr lang="en-US" dirty="0"/>
              <a:t>”</a:t>
            </a:r>
          </a:p>
          <a:p>
            <a:pPr lvl="0"/>
            <a:r>
              <a:rPr lang="en-US" dirty="0"/>
              <a:t>&gt;&gt;&gt;</a:t>
            </a:r>
            <a:r>
              <a:rPr lang="en-US" dirty="0" err="1"/>
              <a:t>name.center</a:t>
            </a:r>
            <a:r>
              <a:rPr lang="en-US" dirty="0"/>
              <a:t>(36,”a”)</a:t>
            </a:r>
          </a:p>
          <a:p>
            <a:pPr lvl="0"/>
            <a:r>
              <a:rPr lang="en-US" dirty="0" err="1"/>
              <a:t>aaaaaaaaaaaaaaaAnandaaaaaaaaaaaaaaaa</a:t>
            </a:r>
            <a:endParaRPr lang="en-US" dirty="0"/>
          </a:p>
          <a:p>
            <a:r>
              <a:rPr lang="en-US" dirty="0"/>
              <a:t>&gt;&gt;&gt;</a:t>
            </a:r>
            <a:r>
              <a:rPr lang="en-US" dirty="0" err="1"/>
              <a:t>name.center</a:t>
            </a:r>
            <a:r>
              <a:rPr lang="en-US" dirty="0"/>
              <a:t>(20,”*”)</a:t>
            </a:r>
          </a:p>
          <a:p>
            <a:r>
              <a:rPr lang="en-US" dirty="0"/>
              <a:t>*******</a:t>
            </a:r>
            <a:r>
              <a:rPr lang="en-US" dirty="0" err="1"/>
              <a:t>Anand</a:t>
            </a:r>
            <a:r>
              <a:rPr lang="en-US" dirty="0"/>
              <a:t>********</a:t>
            </a:r>
          </a:p>
          <a:p>
            <a:pPr lvl="0"/>
            <a:endParaRPr lang="en-I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12. </a:t>
            </a:r>
            <a:r>
              <a:rPr lang="en-IN" dirty="0" err="1"/>
              <a:t>zfill</a:t>
            </a:r>
            <a:r>
              <a:rPr lang="en-IN" dirty="0"/>
              <a:t>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zfill</a:t>
            </a:r>
            <a:r>
              <a:rPr lang="en-IN" dirty="0"/>
              <a:t>() method is used to fill the zero to a given string </a:t>
            </a:r>
          </a:p>
          <a:p>
            <a:r>
              <a:rPr lang="en-IN" dirty="0"/>
              <a:t>&gt;&gt;&gt;name1=‘ 123’ </a:t>
            </a:r>
          </a:p>
          <a:p>
            <a:r>
              <a:rPr lang="en-IN" dirty="0"/>
              <a:t>&gt;&gt;&gt;name1.zfill(15) </a:t>
            </a:r>
          </a:p>
          <a:p>
            <a:pPr>
              <a:buNone/>
            </a:pPr>
            <a:r>
              <a:rPr lang="en-IN" dirty="0"/>
              <a:t>		’00000000000 123’ </a:t>
            </a:r>
          </a:p>
          <a:p>
            <a:pPr>
              <a:buNone/>
            </a:pPr>
            <a:r>
              <a:rPr lang="en-IN" dirty="0"/>
              <a:t>		Filling Zeros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13. find()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find() method is used to find a </a:t>
            </a:r>
            <a:r>
              <a:rPr lang="en-IN" dirty="0" err="1"/>
              <a:t>perticular</a:t>
            </a:r>
            <a:r>
              <a:rPr lang="en-IN" dirty="0"/>
              <a:t> character or string in a given string. </a:t>
            </a:r>
          </a:p>
          <a:p>
            <a:r>
              <a:rPr lang="en-IN" dirty="0"/>
              <a:t>&gt;&gt;&gt; name1=“Internet" </a:t>
            </a:r>
          </a:p>
          <a:p>
            <a:r>
              <a:rPr lang="en-IN" dirty="0"/>
              <a:t>&gt;&gt;&gt; name1.find("e") </a:t>
            </a:r>
          </a:p>
          <a:p>
            <a:r>
              <a:rPr lang="en-IN" dirty="0"/>
              <a:t>3 </a:t>
            </a:r>
          </a:p>
          <a:p>
            <a:r>
              <a:rPr lang="en-IN" dirty="0"/>
              <a:t>e is present at 3rd location (first appearance) in a given string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14. count()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count() method is used to the number of times character or string appears in a given string. &gt;&gt;&gt;name1=“Internet “ </a:t>
            </a:r>
          </a:p>
          <a:p>
            <a:pPr>
              <a:buNone/>
            </a:pPr>
            <a:r>
              <a:rPr lang="en-IN" dirty="0"/>
              <a:t>	&gt;&gt;&gt;name1.count(“n”) </a:t>
            </a:r>
          </a:p>
          <a:p>
            <a:pPr>
              <a:buNone/>
            </a:pPr>
            <a:r>
              <a:rPr lang="en-IN" dirty="0"/>
              <a:t>	2 </a:t>
            </a:r>
          </a:p>
          <a:p>
            <a:pPr>
              <a:buNone/>
            </a:pPr>
            <a:r>
              <a:rPr lang="en-IN" dirty="0"/>
              <a:t>	2 times n appears in a given string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15. </a:t>
            </a:r>
            <a:r>
              <a:rPr lang="en-IN" dirty="0" err="1"/>
              <a:t>stratswith</a:t>
            </a:r>
            <a:r>
              <a:rPr lang="en-IN" dirty="0"/>
              <a:t>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 err="1"/>
              <a:t>startswith</a:t>
            </a:r>
            <a:r>
              <a:rPr lang="en-IN" dirty="0"/>
              <a:t>() method is used check string start with particular string or not </a:t>
            </a:r>
          </a:p>
          <a:p>
            <a:pPr lvl="0">
              <a:buNone/>
            </a:pPr>
            <a:r>
              <a:rPr lang="en-IN" dirty="0"/>
              <a:t>	&gt;&gt;&gt;name1=“Delhi“ </a:t>
            </a:r>
          </a:p>
          <a:p>
            <a:pPr lvl="0">
              <a:buNone/>
            </a:pPr>
            <a:r>
              <a:rPr lang="en-IN" dirty="0"/>
              <a:t>	&gt;&gt;&gt;name1.startswith(“a”) </a:t>
            </a:r>
          </a:p>
          <a:p>
            <a:pPr lvl="0">
              <a:buNone/>
            </a:pPr>
            <a:r>
              <a:rPr lang="en-IN" dirty="0"/>
              <a:t>		False </a:t>
            </a:r>
          </a:p>
          <a:p>
            <a:pPr lvl="0"/>
            <a:r>
              <a:rPr lang="en-IN" dirty="0"/>
              <a:t>Given string not starting with “a”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16. </a:t>
            </a:r>
            <a:r>
              <a:rPr lang="en-IN" dirty="0" err="1"/>
              <a:t>endswith</a:t>
            </a:r>
            <a:r>
              <a:rPr lang="en-IN" dirty="0"/>
              <a:t>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 err="1"/>
              <a:t>endswith</a:t>
            </a:r>
            <a:r>
              <a:rPr lang="en-IN" dirty="0"/>
              <a:t>() method is used check string ends with particular string or not </a:t>
            </a:r>
          </a:p>
          <a:p>
            <a:pPr lvl="0">
              <a:buNone/>
            </a:pPr>
            <a:r>
              <a:rPr lang="en-IN" dirty="0"/>
              <a:t>	&gt;&gt;&gt;name1=“Dairy“ </a:t>
            </a:r>
          </a:p>
          <a:p>
            <a:pPr lvl="0">
              <a:buNone/>
            </a:pPr>
            <a:r>
              <a:rPr lang="en-IN" dirty="0"/>
              <a:t>	&gt;&gt;&gt;name1.endswith(“</a:t>
            </a:r>
            <a:r>
              <a:rPr lang="en-IN" dirty="0" err="1"/>
              <a:t>ry</a:t>
            </a:r>
            <a:r>
              <a:rPr lang="en-IN" dirty="0"/>
              <a:t>”) </a:t>
            </a:r>
          </a:p>
          <a:p>
            <a:pPr lvl="0">
              <a:buNone/>
            </a:pPr>
            <a:r>
              <a:rPr lang="en-IN" dirty="0"/>
              <a:t>	True </a:t>
            </a:r>
          </a:p>
          <a:p>
            <a:pPr lvl="0">
              <a:buNone/>
            </a:pPr>
            <a:r>
              <a:rPr lang="en-IN" dirty="0"/>
              <a:t>	Given string ends with “en”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17. </a:t>
            </a:r>
            <a:r>
              <a:rPr lang="en-IN" dirty="0" err="1"/>
              <a:t>isdigit</a:t>
            </a:r>
            <a:r>
              <a:rPr lang="en-IN" dirty="0"/>
              <a:t>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7298"/>
            <a:ext cx="8686800" cy="5143536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IN" dirty="0" err="1"/>
              <a:t>isdigit</a:t>
            </a:r>
            <a:r>
              <a:rPr lang="en-IN" dirty="0"/>
              <a:t>() method is used check string is digit (number) or not and returns Boolean value true or false. </a:t>
            </a:r>
          </a:p>
          <a:p>
            <a:pPr lvl="0">
              <a:buNone/>
            </a:pPr>
            <a:r>
              <a:rPr lang="en-IN" dirty="0"/>
              <a:t>	&gt;&gt;&gt;name2=“123” </a:t>
            </a:r>
          </a:p>
          <a:p>
            <a:pPr lvl="0">
              <a:buNone/>
            </a:pPr>
            <a:r>
              <a:rPr lang="en-IN" dirty="0"/>
              <a:t>	&gt;&gt;&gt;name2.isdigit() </a:t>
            </a:r>
          </a:p>
          <a:p>
            <a:pPr lvl="0">
              <a:buNone/>
            </a:pPr>
            <a:r>
              <a:rPr lang="en-IN" dirty="0"/>
              <a:t>		True </a:t>
            </a:r>
          </a:p>
          <a:p>
            <a:pPr lvl="0">
              <a:buNone/>
            </a:pPr>
            <a:r>
              <a:rPr lang="en-IN" dirty="0"/>
              <a:t>	&gt;&gt;name1=“123keyboard“ </a:t>
            </a:r>
          </a:p>
          <a:p>
            <a:pPr lvl="0">
              <a:buNone/>
            </a:pPr>
            <a:r>
              <a:rPr lang="en-IN" dirty="0"/>
              <a:t>	&gt;&gt;name1.isdigit() </a:t>
            </a:r>
          </a:p>
          <a:p>
            <a:pPr lvl="0">
              <a:buNone/>
            </a:pPr>
            <a:r>
              <a:rPr lang="en-IN" dirty="0"/>
              <a:t>		False </a:t>
            </a:r>
          </a:p>
          <a:p>
            <a:pPr lvl="0">
              <a:buNone/>
            </a:pPr>
            <a:r>
              <a:rPr lang="en-IN" dirty="0"/>
              <a:t>Given string not number so false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18. </a:t>
            </a:r>
            <a:r>
              <a:rPr lang="en-IN" dirty="0" err="1"/>
              <a:t>isnumeric</a:t>
            </a:r>
            <a:r>
              <a:rPr lang="en-IN" dirty="0"/>
              <a:t>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85860"/>
            <a:ext cx="8686800" cy="5572140"/>
          </a:xfrm>
        </p:spPr>
        <p:txBody>
          <a:bodyPr>
            <a:normAutofit/>
          </a:bodyPr>
          <a:lstStyle/>
          <a:p>
            <a:r>
              <a:rPr lang="en-IN" dirty="0" err="1"/>
              <a:t>isnumeric</a:t>
            </a:r>
            <a:r>
              <a:rPr lang="en-IN" dirty="0"/>
              <a:t>() is similar to </a:t>
            </a:r>
            <a:r>
              <a:rPr lang="en-IN" dirty="0" err="1"/>
              <a:t>isdigit</a:t>
            </a:r>
            <a:r>
              <a:rPr lang="en-IN" dirty="0"/>
              <a:t>() method and is used check string is digit (number) or not and returns Boolean value true or false. &gt;&gt;&gt;name2=“123” </a:t>
            </a:r>
          </a:p>
          <a:p>
            <a:pPr>
              <a:buNone/>
            </a:pPr>
            <a:r>
              <a:rPr lang="en-IN" dirty="0"/>
              <a:t>	&gt;&gt;&gt;name2.isnumeric() </a:t>
            </a:r>
          </a:p>
          <a:p>
            <a:pPr>
              <a:buNone/>
            </a:pPr>
            <a:r>
              <a:rPr lang="en-IN" dirty="0"/>
              <a:t>	True </a:t>
            </a:r>
          </a:p>
          <a:p>
            <a:pPr>
              <a:buNone/>
            </a:pPr>
            <a:r>
              <a:rPr lang="en-IN" dirty="0"/>
              <a:t>	&gt;&gt;name1=“123keyboard“ &gt;&gt;name1.isnumeric() </a:t>
            </a:r>
          </a:p>
          <a:p>
            <a:pPr>
              <a:buNone/>
            </a:pPr>
            <a:r>
              <a:rPr lang="en-IN" dirty="0"/>
              <a:t>	False </a:t>
            </a:r>
          </a:p>
          <a:p>
            <a:pPr>
              <a:buNone/>
            </a:pPr>
            <a:r>
              <a:rPr lang="en-IN" dirty="0"/>
              <a:t>	Given string not number so false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19. </a:t>
            </a:r>
            <a:r>
              <a:rPr lang="en-IN" dirty="0" err="1"/>
              <a:t>isdecimal</a:t>
            </a:r>
            <a:r>
              <a:rPr lang="en-IN" dirty="0"/>
              <a:t>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686800" cy="5286412"/>
          </a:xfrm>
        </p:spPr>
        <p:txBody>
          <a:bodyPr>
            <a:normAutofit lnSpcReduction="10000"/>
          </a:bodyPr>
          <a:lstStyle/>
          <a:p>
            <a:r>
              <a:rPr lang="en-IN" dirty="0" err="1"/>
              <a:t>isnumeric</a:t>
            </a:r>
            <a:r>
              <a:rPr lang="en-IN" dirty="0"/>
              <a:t>(),</a:t>
            </a:r>
            <a:r>
              <a:rPr lang="en-IN" dirty="0" err="1"/>
              <a:t>isdigit</a:t>
            </a:r>
            <a:r>
              <a:rPr lang="en-IN" dirty="0"/>
              <a:t>() and </a:t>
            </a:r>
            <a:r>
              <a:rPr lang="en-IN" dirty="0" err="1"/>
              <a:t>isdecimal</a:t>
            </a:r>
            <a:r>
              <a:rPr lang="en-IN" dirty="0"/>
              <a:t>() methods are used to check string is digit (number) or not and returns Boolean value true or false. &gt;&gt;&gt;name2=“123” </a:t>
            </a:r>
          </a:p>
          <a:p>
            <a:pPr>
              <a:buNone/>
            </a:pPr>
            <a:r>
              <a:rPr lang="en-IN" dirty="0"/>
              <a:t>	&gt;&gt;&gt;name2.decimal() </a:t>
            </a:r>
          </a:p>
          <a:p>
            <a:pPr>
              <a:buNone/>
            </a:pPr>
            <a:r>
              <a:rPr lang="en-IN" dirty="0"/>
              <a:t>	True </a:t>
            </a:r>
          </a:p>
          <a:p>
            <a:pPr>
              <a:buNone/>
            </a:pPr>
            <a:r>
              <a:rPr lang="en-IN" dirty="0"/>
              <a:t>	&gt;&gt;name1=“123keyboard“ </a:t>
            </a:r>
          </a:p>
          <a:p>
            <a:pPr>
              <a:buNone/>
            </a:pPr>
            <a:r>
              <a:rPr lang="en-IN" dirty="0"/>
              <a:t>	&gt;&gt;name1.isnumeric() </a:t>
            </a:r>
          </a:p>
          <a:p>
            <a:pPr>
              <a:buNone/>
            </a:pPr>
            <a:r>
              <a:rPr lang="en-IN" dirty="0"/>
              <a:t>	False </a:t>
            </a:r>
          </a:p>
          <a:p>
            <a:pPr>
              <a:buNone/>
            </a:pPr>
            <a:r>
              <a:rPr lang="en-IN" dirty="0"/>
              <a:t>	Given string not number so false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20. </a:t>
            </a:r>
            <a:r>
              <a:rPr lang="en-IN" dirty="0" err="1"/>
              <a:t>isalpha</a:t>
            </a:r>
            <a:r>
              <a:rPr lang="en-IN" dirty="0"/>
              <a:t>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686800" cy="4525963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IN" dirty="0" err="1"/>
              <a:t>isalpha</a:t>
            </a:r>
            <a:r>
              <a:rPr lang="en-IN" dirty="0"/>
              <a:t>() method is used check string is digit or not and returns Boolean value true or false. </a:t>
            </a:r>
          </a:p>
          <a:p>
            <a:pPr lvl="0"/>
            <a:r>
              <a:rPr lang="en-IN" dirty="0"/>
              <a:t>&gt;&gt;&gt;name2=“123” </a:t>
            </a:r>
          </a:p>
          <a:p>
            <a:pPr lvl="0">
              <a:buNone/>
            </a:pPr>
            <a:r>
              <a:rPr lang="en-IN" dirty="0"/>
              <a:t>	&gt;&gt;&gt;name2.isalpha() </a:t>
            </a:r>
          </a:p>
          <a:p>
            <a:pPr lvl="0">
              <a:buNone/>
            </a:pPr>
            <a:r>
              <a:rPr lang="en-IN" dirty="0"/>
              <a:t>	False  (Given string does not contain string  ) </a:t>
            </a:r>
          </a:p>
          <a:p>
            <a:pPr lvl="0">
              <a:buNone/>
            </a:pPr>
            <a:r>
              <a:rPr lang="en-IN" dirty="0"/>
              <a:t>	&gt;&gt;name1=“123computer“ </a:t>
            </a:r>
          </a:p>
          <a:p>
            <a:pPr lvl="0">
              <a:buNone/>
            </a:pPr>
            <a:r>
              <a:rPr lang="en-IN" dirty="0"/>
              <a:t>	&gt;&gt;name1.isalpha() </a:t>
            </a:r>
          </a:p>
          <a:p>
            <a:pPr lvl="0">
              <a:buNone/>
            </a:pPr>
            <a:r>
              <a:rPr lang="en-IN" dirty="0"/>
              <a:t>	False   (Given string is not a string it contains digits)</a:t>
            </a:r>
          </a:p>
          <a:p>
            <a:pPr lvl="0">
              <a:buNone/>
            </a:pPr>
            <a:r>
              <a:rPr lang="en-IN" dirty="0"/>
              <a:t>	&gt;&gt;&gt;name3=“</a:t>
            </a:r>
            <a:r>
              <a:rPr lang="en-IN" dirty="0" err="1"/>
              <a:t>Keynoard</a:t>
            </a:r>
            <a:r>
              <a:rPr lang="en-IN" dirty="0"/>
              <a:t>” </a:t>
            </a:r>
          </a:p>
          <a:p>
            <a:pPr lvl="0">
              <a:buNone/>
            </a:pPr>
            <a:r>
              <a:rPr lang="en-IN" dirty="0"/>
              <a:t>	&gt;&gt;&gt;Name3.isalpha() </a:t>
            </a:r>
          </a:p>
          <a:p>
            <a:pPr lvl="0">
              <a:buNone/>
            </a:pPr>
            <a:r>
              <a:rPr lang="en-IN" dirty="0"/>
              <a:t>		True   (It’s a string 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21. </a:t>
            </a:r>
            <a:r>
              <a:rPr lang="en-IN" dirty="0" err="1"/>
              <a:t>isalnum</a:t>
            </a:r>
            <a:r>
              <a:rPr lang="en-IN" dirty="0"/>
              <a:t>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IN" dirty="0" err="1"/>
              <a:t>isalnum</a:t>
            </a:r>
            <a:r>
              <a:rPr lang="en-IN" dirty="0"/>
              <a:t>() method is used check string is alpha numeric string or not. </a:t>
            </a:r>
          </a:p>
          <a:p>
            <a:pPr lvl="0">
              <a:buNone/>
            </a:pPr>
            <a:r>
              <a:rPr lang="en-IN" dirty="0"/>
              <a:t>	&gt;&gt;&gt;name2=“123” </a:t>
            </a:r>
          </a:p>
          <a:p>
            <a:pPr lvl="0">
              <a:buNone/>
            </a:pPr>
            <a:r>
              <a:rPr lang="en-IN" dirty="0"/>
              <a:t>	&gt;&gt;&gt;name2.isalnum() </a:t>
            </a:r>
          </a:p>
          <a:p>
            <a:pPr lvl="0">
              <a:buNone/>
            </a:pPr>
            <a:r>
              <a:rPr lang="en-IN" dirty="0"/>
              <a:t>	True   (True Given string is alpha numeric)</a:t>
            </a:r>
          </a:p>
          <a:p>
            <a:pPr lvl="0">
              <a:buNone/>
            </a:pPr>
            <a:r>
              <a:rPr lang="en-IN" dirty="0"/>
              <a:t>	&gt;&gt;&gt;name1=“123computer“ </a:t>
            </a:r>
          </a:p>
          <a:p>
            <a:pPr lvl="0">
              <a:buNone/>
            </a:pPr>
            <a:r>
              <a:rPr lang="en-IN" dirty="0"/>
              <a:t>	&gt;&gt;&gt;name1.isalnum() </a:t>
            </a:r>
          </a:p>
          <a:p>
            <a:pPr lvl="0">
              <a:buNone/>
            </a:pPr>
            <a:r>
              <a:rPr lang="en-IN" dirty="0"/>
              <a:t>	True   (True Given string is alpha numeric )</a:t>
            </a:r>
          </a:p>
          <a:p>
            <a:pPr lvl="0">
              <a:buNone/>
            </a:pPr>
            <a:r>
              <a:rPr lang="en-IN" dirty="0"/>
              <a:t>	&gt;&gt;&gt;name3=“Praveen” </a:t>
            </a:r>
          </a:p>
          <a:p>
            <a:pPr lvl="0">
              <a:buNone/>
            </a:pPr>
            <a:r>
              <a:rPr lang="en-IN" dirty="0"/>
              <a:t>	&gt;&gt;&gt;name3.isalnum() </a:t>
            </a:r>
          </a:p>
          <a:p>
            <a:pPr lvl="0">
              <a:buNone/>
            </a:pPr>
            <a:r>
              <a:rPr lang="en-IN" dirty="0"/>
              <a:t>	True (Given string is alpha numeric 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22. </a:t>
            </a:r>
            <a:r>
              <a:rPr lang="en-IN" dirty="0" err="1"/>
              <a:t>islower</a:t>
            </a:r>
            <a:r>
              <a:rPr lang="en-IN" dirty="0"/>
              <a:t>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 err="1"/>
              <a:t>islower</a:t>
            </a:r>
            <a:r>
              <a:rPr lang="en-IN" dirty="0"/>
              <a:t>() method is used check string contains all lower case letters or not, it returns true or false result. </a:t>
            </a:r>
          </a:p>
          <a:p>
            <a:pPr>
              <a:buNone/>
            </a:pPr>
            <a:r>
              <a:rPr lang="en-IN" dirty="0"/>
              <a:t>	&gt;&gt;&gt;name2=“</a:t>
            </a:r>
            <a:r>
              <a:rPr lang="en-IN" dirty="0" err="1"/>
              <a:t>Anand</a:t>
            </a:r>
            <a:r>
              <a:rPr lang="en-IN" dirty="0"/>
              <a:t>” </a:t>
            </a:r>
          </a:p>
          <a:p>
            <a:pPr>
              <a:buNone/>
            </a:pPr>
            <a:r>
              <a:rPr lang="en-IN" dirty="0"/>
              <a:t>	&gt;&gt;&gt;name2.islower() </a:t>
            </a:r>
          </a:p>
          <a:p>
            <a:pPr>
              <a:buNone/>
            </a:pPr>
            <a:r>
              <a:rPr lang="en-IN" dirty="0"/>
              <a:t>	False   (Given string is not lower case string)</a:t>
            </a:r>
          </a:p>
          <a:p>
            <a:pPr>
              <a:buNone/>
            </a:pPr>
            <a:r>
              <a:rPr lang="en-IN" dirty="0"/>
              <a:t>	&gt;&gt;&gt;name1=“</a:t>
            </a:r>
            <a:r>
              <a:rPr lang="en-IN" dirty="0" err="1"/>
              <a:t>anand</a:t>
            </a:r>
            <a:r>
              <a:rPr lang="en-IN" dirty="0"/>
              <a:t>“ </a:t>
            </a:r>
          </a:p>
          <a:p>
            <a:pPr>
              <a:buNone/>
            </a:pPr>
            <a:r>
              <a:rPr lang="en-IN" dirty="0"/>
              <a:t>	&gt;&gt;&gt;name1.islower() </a:t>
            </a:r>
          </a:p>
          <a:p>
            <a:pPr>
              <a:buNone/>
            </a:pPr>
            <a:r>
              <a:rPr lang="en-IN" dirty="0"/>
              <a:t>	True (Given string is lower case string 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23. </a:t>
            </a:r>
            <a:r>
              <a:rPr lang="en-IN" dirty="0" err="1"/>
              <a:t>isupper</a:t>
            </a:r>
            <a:r>
              <a:rPr lang="en-IN" dirty="0"/>
              <a:t>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IN" dirty="0" err="1"/>
              <a:t>isupper</a:t>
            </a:r>
            <a:r>
              <a:rPr lang="en-IN" dirty="0"/>
              <a:t>() method is used check string contains all letters upper case or not, it returns true or false result. </a:t>
            </a:r>
          </a:p>
          <a:p>
            <a:pPr lvl="0">
              <a:buNone/>
            </a:pPr>
            <a:r>
              <a:rPr lang="en-IN" dirty="0"/>
              <a:t>	&gt;&gt;&gt;name2=“</a:t>
            </a:r>
            <a:r>
              <a:rPr lang="en-IN" dirty="0" err="1"/>
              <a:t>Anand</a:t>
            </a:r>
            <a:r>
              <a:rPr lang="en-IN" dirty="0"/>
              <a:t>” </a:t>
            </a:r>
          </a:p>
          <a:p>
            <a:pPr lvl="0">
              <a:buNone/>
            </a:pPr>
            <a:r>
              <a:rPr lang="en-IN" dirty="0"/>
              <a:t>	&gt;&gt;&gt;name2.isupper() </a:t>
            </a:r>
          </a:p>
          <a:p>
            <a:pPr lvl="0">
              <a:buNone/>
            </a:pPr>
            <a:r>
              <a:rPr lang="en-IN" dirty="0"/>
              <a:t>	False  (Given string is not upper case string)</a:t>
            </a:r>
          </a:p>
          <a:p>
            <a:pPr lvl="0">
              <a:buNone/>
            </a:pPr>
            <a:r>
              <a:rPr lang="en-IN" dirty="0"/>
              <a:t>	&gt;&gt;&gt;name1=“ANAND” </a:t>
            </a:r>
          </a:p>
          <a:p>
            <a:pPr lvl="0">
              <a:buNone/>
            </a:pPr>
            <a:r>
              <a:rPr lang="en-IN" dirty="0"/>
              <a:t>	&gt;&gt;&gt;name1.isupper() </a:t>
            </a:r>
          </a:p>
          <a:p>
            <a:pPr lvl="0">
              <a:buNone/>
            </a:pPr>
            <a:r>
              <a:rPr lang="en-IN" dirty="0"/>
              <a:t>	True (Given string is upper case string 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24. </a:t>
            </a:r>
            <a:r>
              <a:rPr lang="en-IN" dirty="0" err="1"/>
              <a:t>isspace</a:t>
            </a:r>
            <a:r>
              <a:rPr lang="en-IN" dirty="0"/>
              <a:t>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err="1"/>
              <a:t>isspace</a:t>
            </a:r>
            <a:r>
              <a:rPr lang="en-IN" dirty="0"/>
              <a:t>() method is used check string contains space only or not. </a:t>
            </a:r>
          </a:p>
          <a:p>
            <a:r>
              <a:rPr lang="en-IN" dirty="0"/>
              <a:t>&gt;&gt;&gt;name2=“ ” </a:t>
            </a:r>
          </a:p>
          <a:p>
            <a:r>
              <a:rPr lang="en-IN" dirty="0"/>
              <a:t>&gt;&gt;&gt;name2.isspace() </a:t>
            </a:r>
          </a:p>
          <a:p>
            <a:r>
              <a:rPr lang="en-IN" dirty="0"/>
              <a:t>True  (Given string contains space only )</a:t>
            </a:r>
          </a:p>
          <a:p>
            <a:r>
              <a:rPr lang="en-IN" dirty="0"/>
              <a:t>&gt;&gt;&gt;name1=“</a:t>
            </a:r>
            <a:r>
              <a:rPr lang="en-IN" dirty="0" err="1"/>
              <a:t>Anandalaya</a:t>
            </a:r>
            <a:r>
              <a:rPr lang="en-IN" dirty="0"/>
              <a:t> </a:t>
            </a:r>
            <a:r>
              <a:rPr lang="en-IN" dirty="0" err="1"/>
              <a:t>Anand</a:t>
            </a:r>
            <a:r>
              <a:rPr lang="en-IN" dirty="0"/>
              <a:t> “ &gt;&gt;&gt;name1.isspace() </a:t>
            </a:r>
          </a:p>
          <a:p>
            <a:r>
              <a:rPr lang="en-IN" dirty="0"/>
              <a:t>False (Given string not containing space only)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25. find()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find() method is used to find a particular string (substring) in a given string. &gt;&gt;&gt;name=“Classic” </a:t>
            </a:r>
          </a:p>
          <a:p>
            <a:pPr>
              <a:buNone/>
            </a:pPr>
            <a:r>
              <a:rPr lang="en-IN" dirty="0"/>
              <a:t>	&gt;&gt;&gt;</a:t>
            </a:r>
            <a:r>
              <a:rPr lang="en-IN" dirty="0" err="1"/>
              <a:t>name.find</a:t>
            </a:r>
            <a:r>
              <a:rPr lang="en-IN" dirty="0"/>
              <a:t>(“s”) </a:t>
            </a:r>
          </a:p>
          <a:p>
            <a:pPr>
              <a:buNone/>
            </a:pPr>
            <a:r>
              <a:rPr lang="en-IN" dirty="0"/>
              <a:t>	3 </a:t>
            </a:r>
          </a:p>
          <a:p>
            <a:pPr>
              <a:buNone/>
            </a:pPr>
            <a:r>
              <a:rPr lang="en-IN" dirty="0"/>
              <a:t>	the first position where “s” appears in the string.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26. </a:t>
            </a:r>
            <a:r>
              <a:rPr lang="en-IN" dirty="0" err="1"/>
              <a:t>str</a:t>
            </a:r>
            <a:r>
              <a:rPr lang="en-IN" dirty="0"/>
              <a:t>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 err="1"/>
              <a:t>str</a:t>
            </a:r>
            <a:r>
              <a:rPr lang="en-IN" dirty="0"/>
              <a:t>() method is used convert non string data into string type. </a:t>
            </a:r>
          </a:p>
          <a:p>
            <a:pPr lvl="0"/>
            <a:r>
              <a:rPr lang="en-IN" dirty="0"/>
              <a:t>&gt;&gt;&gt;</a:t>
            </a:r>
            <a:r>
              <a:rPr lang="en-IN" dirty="0" err="1"/>
              <a:t>str</a:t>
            </a:r>
            <a:r>
              <a:rPr lang="en-IN" dirty="0"/>
              <a:t>(576) </a:t>
            </a:r>
          </a:p>
          <a:p>
            <a:pPr lvl="0">
              <a:buNone/>
            </a:pPr>
            <a:r>
              <a:rPr lang="en-IN" dirty="0"/>
              <a:t>	‘576’    (576 is number converted to string)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27 </a:t>
            </a:r>
            <a:r>
              <a:rPr lang="en-IN" dirty="0" err="1"/>
              <a:t>len</a:t>
            </a:r>
            <a:r>
              <a:rPr lang="en-IN" dirty="0"/>
              <a:t>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len</a:t>
            </a:r>
            <a:r>
              <a:rPr lang="en-IN" dirty="0"/>
              <a:t>() method is used get a length of string. </a:t>
            </a:r>
          </a:p>
          <a:p>
            <a:pPr>
              <a:buNone/>
            </a:pPr>
            <a:r>
              <a:rPr lang="en-IN" dirty="0"/>
              <a:t>	&gt;&gt;&gt;</a:t>
            </a:r>
            <a:r>
              <a:rPr lang="en-IN" dirty="0" err="1"/>
              <a:t>len</a:t>
            </a:r>
            <a:r>
              <a:rPr lang="en-IN" dirty="0"/>
              <a:t>(“</a:t>
            </a:r>
            <a:r>
              <a:rPr lang="en-IN" dirty="0" err="1"/>
              <a:t>Naveen</a:t>
            </a:r>
            <a:r>
              <a:rPr lang="en-IN" dirty="0"/>
              <a:t>”) </a:t>
            </a:r>
          </a:p>
          <a:p>
            <a:pPr>
              <a:buNone/>
            </a:pPr>
            <a:r>
              <a:rPr lang="en-IN" dirty="0"/>
              <a:t>	6 ( Gives the string length)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28 max()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max() method is used get a max alphabet of string. </a:t>
            </a:r>
          </a:p>
          <a:p>
            <a:pPr lvl="0">
              <a:buNone/>
            </a:pPr>
            <a:r>
              <a:rPr lang="en-IN" dirty="0"/>
              <a:t>	&gt;&gt;&gt;max(“Praveen”) </a:t>
            </a:r>
          </a:p>
          <a:p>
            <a:pPr lvl="0">
              <a:buNone/>
            </a:pPr>
            <a:r>
              <a:rPr lang="en-IN" dirty="0"/>
              <a:t>	v   ( Gives max character 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29 min()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min() method is used get a max alphabet of string. </a:t>
            </a:r>
          </a:p>
          <a:p>
            <a:pPr>
              <a:buNone/>
            </a:pPr>
            <a:r>
              <a:rPr lang="en-IN" dirty="0"/>
              <a:t>	&gt;&gt;&gt;min(“</a:t>
            </a:r>
            <a:r>
              <a:rPr lang="en-IN" dirty="0" err="1"/>
              <a:t>Anand</a:t>
            </a:r>
            <a:r>
              <a:rPr lang="en-IN" dirty="0"/>
              <a:t>”) </a:t>
            </a:r>
          </a:p>
          <a:p>
            <a:pPr>
              <a:buNone/>
            </a:pPr>
            <a:r>
              <a:rPr lang="en-IN" dirty="0"/>
              <a:t>	A  ( Gives min character A because it has ASCII Value 65 )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30 split()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split() method is used split a string. </a:t>
            </a:r>
            <a:endParaRPr lang="en-US" dirty="0"/>
          </a:p>
          <a:p>
            <a:pPr lvl="0">
              <a:buNone/>
            </a:pPr>
            <a:r>
              <a:rPr lang="en-US" dirty="0"/>
              <a:t>	&gt;&gt;&gt;name=“</a:t>
            </a:r>
            <a:r>
              <a:rPr lang="en-US" dirty="0" err="1"/>
              <a:t>Anandalaya</a:t>
            </a:r>
            <a:r>
              <a:rPr lang="en-US" dirty="0"/>
              <a:t> NDDB Campus </a:t>
            </a:r>
            <a:r>
              <a:rPr lang="en-US" dirty="0" err="1"/>
              <a:t>Anand</a:t>
            </a:r>
            <a:r>
              <a:rPr lang="en-US" dirty="0"/>
              <a:t>”</a:t>
            </a:r>
          </a:p>
          <a:p>
            <a:pPr lvl="0">
              <a:buNone/>
            </a:pPr>
            <a:r>
              <a:rPr lang="en-US" dirty="0"/>
              <a:t>	&gt;&gt;&gt;</a:t>
            </a:r>
            <a:r>
              <a:rPr lang="en-US" dirty="0" err="1"/>
              <a:t>name.split</a:t>
            </a:r>
            <a:r>
              <a:rPr lang="en-US" dirty="0"/>
              <a:t>()</a:t>
            </a:r>
          </a:p>
          <a:p>
            <a:pPr lvl="0">
              <a:buNone/>
            </a:pPr>
            <a:r>
              <a:rPr lang="en-US" dirty="0"/>
              <a:t>		[“</a:t>
            </a:r>
            <a:r>
              <a:rPr lang="en-US" dirty="0" err="1"/>
              <a:t>Anandalaya”,“NDDB</a:t>
            </a:r>
            <a:r>
              <a:rPr lang="en-US" dirty="0"/>
              <a:t>”,“ </a:t>
            </a:r>
            <a:r>
              <a:rPr lang="en-US" dirty="0" err="1"/>
              <a:t>Campus”,“Anand</a:t>
            </a:r>
            <a:r>
              <a:rPr lang="en-US" dirty="0"/>
              <a:t>”]</a:t>
            </a:r>
          </a:p>
          <a:p>
            <a:pPr lvl="0">
              <a:buNone/>
            </a:pPr>
            <a:r>
              <a:rPr lang="en-IN" dirty="0"/>
              <a:t>	Split in to several words or substrings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30 split()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split() method is used split a string according to delimiter. </a:t>
            </a:r>
            <a:endParaRPr lang="en-US" dirty="0"/>
          </a:p>
          <a:p>
            <a:pPr lvl="0">
              <a:buNone/>
            </a:pPr>
            <a:r>
              <a:rPr lang="en-US" dirty="0"/>
              <a:t>	&gt;&gt;&gt;name=“</a:t>
            </a:r>
            <a:r>
              <a:rPr lang="en-US" dirty="0" err="1"/>
              <a:t>Anandalaya</a:t>
            </a:r>
            <a:r>
              <a:rPr lang="en-US" dirty="0"/>
              <a:t> NDDB Campus </a:t>
            </a:r>
            <a:r>
              <a:rPr lang="en-US" dirty="0" err="1"/>
              <a:t>Anand</a:t>
            </a:r>
            <a:r>
              <a:rPr lang="en-US" dirty="0"/>
              <a:t>”</a:t>
            </a:r>
          </a:p>
          <a:p>
            <a:pPr lvl="0">
              <a:buNone/>
            </a:pPr>
            <a:r>
              <a:rPr lang="en-US" dirty="0"/>
              <a:t>	&gt;&gt;&gt;</a:t>
            </a:r>
            <a:r>
              <a:rPr lang="en-US" dirty="0" err="1"/>
              <a:t>name.split</a:t>
            </a:r>
            <a:r>
              <a:rPr lang="en-US" dirty="0"/>
              <a:t>(“Ca”)</a:t>
            </a:r>
          </a:p>
          <a:p>
            <a:pPr lvl="0">
              <a:buNone/>
            </a:pPr>
            <a:r>
              <a:rPr lang="en-US" dirty="0"/>
              <a:t>		[“</a:t>
            </a:r>
            <a:r>
              <a:rPr lang="en-US" dirty="0" err="1"/>
              <a:t>Anandalaya</a:t>
            </a:r>
            <a:r>
              <a:rPr lang="en-US" dirty="0"/>
              <a:t> NDDB”,“ </a:t>
            </a:r>
            <a:r>
              <a:rPr lang="en-US" dirty="0" err="1"/>
              <a:t>mpus</a:t>
            </a:r>
            <a:r>
              <a:rPr lang="en-US" dirty="0"/>
              <a:t> </a:t>
            </a:r>
            <a:r>
              <a:rPr lang="en-US" dirty="0" err="1"/>
              <a:t>Anand</a:t>
            </a:r>
            <a:r>
              <a:rPr lang="en-US" dirty="0"/>
              <a:t>”]</a:t>
            </a:r>
          </a:p>
          <a:p>
            <a:pPr lvl="0">
              <a:buNone/>
            </a:pPr>
            <a:r>
              <a:rPr lang="en-IN" dirty="0"/>
              <a:t>	Split in to several words or substrings </a:t>
            </a:r>
            <a:r>
              <a:rPr lang="en-IN" dirty="0" err="1"/>
              <a:t>acording</a:t>
            </a:r>
            <a:r>
              <a:rPr lang="en-IN" dirty="0"/>
              <a:t> to delimiter.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31. index()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Same as find(), but raises an exception if </a:t>
            </a:r>
            <a:r>
              <a:rPr lang="en-IN" dirty="0" err="1"/>
              <a:t>str</a:t>
            </a:r>
            <a:r>
              <a:rPr lang="en-IN" dirty="0"/>
              <a:t> not found. </a:t>
            </a:r>
          </a:p>
          <a:p>
            <a:pPr>
              <a:buNone/>
            </a:pPr>
            <a:r>
              <a:rPr lang="en-IN" dirty="0"/>
              <a:t>	&gt;&gt;&gt; name="</a:t>
            </a:r>
            <a:r>
              <a:rPr lang="en-IN" dirty="0" err="1"/>
              <a:t>Sainik</a:t>
            </a:r>
            <a:r>
              <a:rPr lang="en-IN" dirty="0"/>
              <a:t>“ </a:t>
            </a:r>
          </a:p>
          <a:p>
            <a:pPr>
              <a:buNone/>
            </a:pPr>
            <a:r>
              <a:rPr lang="en-IN" dirty="0"/>
              <a:t>	&gt;&gt;&gt; </a:t>
            </a:r>
            <a:r>
              <a:rPr lang="en-IN" dirty="0" err="1"/>
              <a:t>name.index</a:t>
            </a:r>
            <a:r>
              <a:rPr lang="en-IN" dirty="0"/>
              <a:t>("a",3,5) </a:t>
            </a:r>
          </a:p>
          <a:p>
            <a:pPr>
              <a:buNone/>
            </a:pPr>
            <a:r>
              <a:rPr lang="en-IN" dirty="0"/>
              <a:t>	</a:t>
            </a:r>
            <a:r>
              <a:rPr lang="en-IN" dirty="0" err="1"/>
              <a:t>ValueError</a:t>
            </a:r>
            <a:r>
              <a:rPr lang="en-IN" dirty="0"/>
              <a:t>: substring not found </a:t>
            </a:r>
          </a:p>
          <a:p>
            <a:pPr>
              <a:buNone/>
            </a:pPr>
            <a:r>
              <a:rPr lang="en-IN" dirty="0"/>
              <a:t>	&gt;&gt;&gt; </a:t>
            </a:r>
            <a:r>
              <a:rPr lang="en-IN" dirty="0" err="1"/>
              <a:t>name.index</a:t>
            </a:r>
            <a:r>
              <a:rPr lang="en-IN" dirty="0"/>
              <a:t>("a",1,5) </a:t>
            </a:r>
          </a:p>
          <a:p>
            <a:pPr>
              <a:buNone/>
            </a:pPr>
            <a:r>
              <a:rPr lang="en-IN" dirty="0"/>
              <a:t>	1   (Character found, returning the position 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32. </a:t>
            </a:r>
            <a:r>
              <a:rPr lang="en-IN" dirty="0" err="1"/>
              <a:t>ord</a:t>
            </a:r>
            <a:r>
              <a:rPr lang="en-IN" dirty="0"/>
              <a:t>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 err="1"/>
              <a:t>ord</a:t>
            </a:r>
            <a:r>
              <a:rPr lang="en-IN" dirty="0"/>
              <a:t>() method is used get a ASCII value for a character. </a:t>
            </a:r>
          </a:p>
          <a:p>
            <a:pPr lvl="0">
              <a:buNone/>
            </a:pPr>
            <a:r>
              <a:rPr lang="en-IN" dirty="0"/>
              <a:t>	&gt;&gt;</a:t>
            </a:r>
            <a:r>
              <a:rPr lang="en-IN" dirty="0" err="1"/>
              <a:t>ord</a:t>
            </a:r>
            <a:r>
              <a:rPr lang="en-IN" dirty="0"/>
              <a:t>(“a”) </a:t>
            </a:r>
          </a:p>
          <a:p>
            <a:pPr lvl="0">
              <a:buNone/>
            </a:pPr>
            <a:r>
              <a:rPr lang="en-IN" dirty="0"/>
              <a:t>	97 </a:t>
            </a:r>
          </a:p>
          <a:p>
            <a:pPr lvl="0">
              <a:buNone/>
            </a:pPr>
            <a:r>
              <a:rPr lang="en-IN" dirty="0"/>
              <a:t>		(97 is the ASCII value for character ‘a’ 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33. </a:t>
            </a:r>
            <a:r>
              <a:rPr lang="en-IN" dirty="0" err="1"/>
              <a:t>chr</a:t>
            </a:r>
            <a:r>
              <a:rPr lang="en-IN" dirty="0"/>
              <a:t>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chr</a:t>
            </a:r>
            <a:r>
              <a:rPr lang="en-IN" dirty="0"/>
              <a:t>() method is used get a character for an ASCII value. </a:t>
            </a:r>
          </a:p>
          <a:p>
            <a:pPr>
              <a:buNone/>
            </a:pPr>
            <a:r>
              <a:rPr lang="en-IN" dirty="0"/>
              <a:t>	&gt;&gt;</a:t>
            </a:r>
            <a:r>
              <a:rPr lang="en-IN" dirty="0" err="1"/>
              <a:t>chr</a:t>
            </a:r>
            <a:r>
              <a:rPr lang="en-IN" dirty="0"/>
              <a:t>(97) </a:t>
            </a:r>
          </a:p>
          <a:p>
            <a:pPr>
              <a:buNone/>
            </a:pPr>
            <a:r>
              <a:rPr lang="en-IN" dirty="0"/>
              <a:t>	‘a’ </a:t>
            </a:r>
          </a:p>
          <a:p>
            <a:pPr>
              <a:buNone/>
            </a:pPr>
            <a:r>
              <a:rPr lang="en-IN" dirty="0"/>
              <a:t>	( ‘a’ ASCII value is 97)</a:t>
            </a:r>
          </a:p>
          <a:p>
            <a:pPr lvl="0"/>
            <a:endParaRPr lang="en-IN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1C767-1CC5-A563-5BA2-BB99D9301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F9C15-B369-94A7-9BC8-10EC63E4E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34. Replace()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6673D-C920-7CD0-CDE8-FBB9FA616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replace(</a:t>
            </a:r>
            <a:r>
              <a:rPr lang="en-IN" dirty="0" err="1"/>
              <a:t>old,new</a:t>
            </a:r>
            <a:r>
              <a:rPr lang="en-IN" dirty="0"/>
              <a:t>)  </a:t>
            </a:r>
          </a:p>
          <a:p>
            <a:pPr>
              <a:buNone/>
            </a:pPr>
            <a:r>
              <a:rPr lang="en-IN" dirty="0"/>
              <a:t>	&gt;&gt;&gt; name="</a:t>
            </a:r>
            <a:r>
              <a:rPr lang="en-IN" dirty="0" err="1"/>
              <a:t>Sainik</a:t>
            </a:r>
            <a:r>
              <a:rPr lang="en-IN" dirty="0"/>
              <a:t>”</a:t>
            </a:r>
          </a:p>
          <a:p>
            <a:pPr>
              <a:buNone/>
            </a:pPr>
            <a:r>
              <a:rPr lang="en-IN" dirty="0"/>
              <a:t>	&gt;&gt;&gt; </a:t>
            </a:r>
            <a:r>
              <a:rPr lang="en-IN" dirty="0" err="1"/>
              <a:t>name.replace</a:t>
            </a:r>
            <a:r>
              <a:rPr lang="en-IN" dirty="0"/>
              <a:t>(“</a:t>
            </a:r>
            <a:r>
              <a:rPr lang="en-IN" dirty="0" err="1"/>
              <a:t>i</a:t>
            </a:r>
            <a:r>
              <a:rPr lang="en-IN" dirty="0"/>
              <a:t>",”e”)</a:t>
            </a:r>
          </a:p>
          <a:p>
            <a:pPr>
              <a:buNone/>
            </a:pPr>
            <a:r>
              <a:rPr lang="en-IN" dirty="0"/>
              <a:t>      output: “</a:t>
            </a:r>
            <a:r>
              <a:rPr lang="en-IN" dirty="0" err="1"/>
              <a:t>Saenek</a:t>
            </a:r>
            <a:r>
              <a:rPr lang="en-IN" dirty="0"/>
              <a:t>”</a:t>
            </a:r>
          </a:p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57616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CF85B-524B-1FD0-047C-042808203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93240-2C21-DAAC-6087-2B0932D8C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35008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ek">
  <a:themeElements>
    <a:clrScheme name="Trek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1128</TotalTime>
  <Words>2324</Words>
  <Application>Microsoft Office PowerPoint</Application>
  <PresentationFormat>On-screen Show (4:3)</PresentationFormat>
  <Paragraphs>305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Arial</vt:lpstr>
      <vt:lpstr>Century Gothic</vt:lpstr>
      <vt:lpstr>Franklin Gothic Book</vt:lpstr>
      <vt:lpstr>Franklin Gothic Medium</vt:lpstr>
      <vt:lpstr>Wingdings 2</vt:lpstr>
      <vt:lpstr>Trek</vt:lpstr>
      <vt:lpstr>PYTHON’S STRING MANIPULATION</vt:lpstr>
      <vt:lpstr>STRINGS</vt:lpstr>
      <vt:lpstr>How to change or delete a string?</vt:lpstr>
      <vt:lpstr>How to create a string in Python?</vt:lpstr>
      <vt:lpstr>REPRESENTATION OF STRING</vt:lpstr>
      <vt:lpstr>Programming Example</vt:lpstr>
      <vt:lpstr>Output:</vt:lpstr>
      <vt:lpstr>HOW to access characters in string</vt:lpstr>
      <vt:lpstr>PowerPoint Presentation</vt:lpstr>
      <vt:lpstr>PowerPoint Presentation</vt:lpstr>
      <vt:lpstr>SLICING STRINGS EXAMPLES</vt:lpstr>
      <vt:lpstr>STRINGS –Index error</vt:lpstr>
      <vt:lpstr>More Functionality of String</vt:lpstr>
      <vt:lpstr>More Functionality of String</vt:lpstr>
      <vt:lpstr>String Methods</vt:lpstr>
      <vt:lpstr>1.  capitalize() Method</vt:lpstr>
      <vt:lpstr>2. lstrip() &amp; 3. rstrip() Methods</vt:lpstr>
      <vt:lpstr>4. strip() Method</vt:lpstr>
      <vt:lpstr>5. lower() Method</vt:lpstr>
      <vt:lpstr>6. UPPER() Method</vt:lpstr>
      <vt:lpstr>7. TITLE() Method</vt:lpstr>
      <vt:lpstr>8. swapcase() Method</vt:lpstr>
      <vt:lpstr>9. ljust() Method</vt:lpstr>
      <vt:lpstr>10. rjust() Method</vt:lpstr>
      <vt:lpstr>11. center(width, fillchar) Method</vt:lpstr>
      <vt:lpstr>12. zfill() Method</vt:lpstr>
      <vt:lpstr>13. find() Method</vt:lpstr>
      <vt:lpstr>14. count() Method</vt:lpstr>
      <vt:lpstr>15. stratswith() Method</vt:lpstr>
      <vt:lpstr>16. endswith() Method</vt:lpstr>
      <vt:lpstr>17. isdigit() Method</vt:lpstr>
      <vt:lpstr>18. isnumeric() Method</vt:lpstr>
      <vt:lpstr>19. isdecimal() Method</vt:lpstr>
      <vt:lpstr>20. isalpha() Method</vt:lpstr>
      <vt:lpstr>21. isalnum() Method</vt:lpstr>
      <vt:lpstr>22. islower() Method</vt:lpstr>
      <vt:lpstr>23. isupper() Method</vt:lpstr>
      <vt:lpstr>24. isspace() Method</vt:lpstr>
      <vt:lpstr>25. find() Methods</vt:lpstr>
      <vt:lpstr>26. str() Method</vt:lpstr>
      <vt:lpstr>27 len() Method</vt:lpstr>
      <vt:lpstr>28 max() Method</vt:lpstr>
      <vt:lpstr>29 min() Method</vt:lpstr>
      <vt:lpstr>30 split() Method</vt:lpstr>
      <vt:lpstr>30 split() Method</vt:lpstr>
      <vt:lpstr>31. index() Method</vt:lpstr>
      <vt:lpstr>32. ord Method</vt:lpstr>
      <vt:lpstr>33. chr() Method</vt:lpstr>
      <vt:lpstr>34. Replace() Method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STRING</dc:title>
  <dc:creator>admin</dc:creator>
  <cp:lastModifiedBy>Godofredo "Edong" Avena</cp:lastModifiedBy>
  <cp:revision>83</cp:revision>
  <dcterms:created xsi:type="dcterms:W3CDTF">2019-07-26T02:38:37Z</dcterms:created>
  <dcterms:modified xsi:type="dcterms:W3CDTF">2024-04-03T08:18:56Z</dcterms:modified>
</cp:coreProperties>
</file>